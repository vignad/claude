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9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97" r:id="rId12"/>
    <p:sldId id="265" r:id="rId13"/>
    <p:sldId id="266" r:id="rId14"/>
    <p:sldId id="267" r:id="rId15"/>
    <p:sldId id="268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7" r:id="rId32"/>
    <p:sldId id="288" r:id="rId33"/>
    <p:sldId id="289" r:id="rId34"/>
    <p:sldId id="298" r:id="rId35"/>
    <p:sldId id="290" r:id="rId36"/>
    <p:sldId id="291" r:id="rId37"/>
    <p:sldId id="299" r:id="rId38"/>
    <p:sldId id="292" r:id="rId39"/>
    <p:sldId id="293" r:id="rId40"/>
    <p:sldId id="295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200" b="1">
                <a:solidFill>
                  <a:srgbClr val="FFFFFF"/>
                </a:solidFill>
              </a:rPr>
              <a:t>RAG in ColdFusion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AAAAAA"/>
                </a:solidFill>
              </a:rPr>
              <a:t>Building AI-Powered Knowledge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CCCCCC"/>
                </a:solidFill>
              </a:rPr>
              <a:t>Prashant Dubey</a:t>
            </a:r>
          </a:p>
          <a:p>
            <a:r>
              <a:rPr sz="1400">
                <a:solidFill>
                  <a:srgbClr val="AAAAAA"/>
                </a:solidFill>
              </a:rPr>
              <a:t>ColdFusion Engineering  |  Adobe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200"/>
              </a:spcBef>
            </a:pPr>
            <a:r>
              <a:rPr sz="2200">
                <a:solidFill>
                  <a:srgbClr val="1A1A1A"/>
                </a:solidFill>
              </a:rPr>
              <a:t>1.  What is RAG?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1A1A1A"/>
                </a:solidFill>
              </a:rPr>
              <a:t>2.  Simple RAG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1A1A1A"/>
                </a:solidFill>
              </a:rPr>
              <a:t>3.  Providers &amp; Vector Stores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1A1A1A"/>
                </a:solidFill>
              </a:rPr>
              <a:t>4.  Document Ingestion &amp; Formats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1A1A1A"/>
                </a:solidFill>
              </a:rPr>
              <a:t>5.  Advanced RAG Pipeline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1A1A1A"/>
                </a:solidFill>
              </a:rPr>
              <a:t>6.  Guardrails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1A1A1A"/>
                </a:solidFill>
              </a:rPr>
              <a:t>7.  Document Service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1A1A1A"/>
                </a:solidFill>
              </a:rPr>
              <a:t>8.  Wrap-up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Before You Start — Whitelist Your Document Paths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10698480" cy="548640"/>
          </a:xfrm>
          <a:prstGeom prst="roundRect">
            <a:avLst/>
          </a:prstGeom>
          <a:solidFill>
            <a:srgbClr val="F5E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1400" b="1">
                <a:solidFill>
                  <a:srgbClr val="1A1A1A"/>
                </a:solidFill>
              </a:rPr>
              <a:t>ColdFusion’s file security controls which directories can be read by CFML. RAG ingestion needs read access to every folder you want to index — add them to pathfilter.json before running a demo.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66568"/>
            <a:ext cx="1051560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 b="1" dirty="0">
                <a:solidFill>
                  <a:srgbClr val="007C91"/>
                </a:solidFill>
              </a:rPr>
              <a:t>Config file: &lt;CF_HOME&gt;/</a:t>
            </a:r>
            <a:r>
              <a:rPr sz="1500" b="1" dirty="0" err="1">
                <a:solidFill>
                  <a:srgbClr val="007C91"/>
                </a:solidFill>
              </a:rPr>
              <a:t>cfusion</a:t>
            </a:r>
            <a:r>
              <a:rPr sz="1500" b="1" dirty="0">
                <a:solidFill>
                  <a:srgbClr val="007C91"/>
                </a:solidFill>
              </a:rPr>
              <a:t>/lib/</a:t>
            </a:r>
            <a:r>
              <a:rPr sz="1500" b="1" dirty="0" err="1">
                <a:solidFill>
                  <a:srgbClr val="007C91"/>
                </a:solidFill>
              </a:rPr>
              <a:t>pathfilter.json</a:t>
            </a:r>
            <a:endParaRPr sz="1500" b="1" dirty="0">
              <a:solidFill>
                <a:srgbClr val="007C91"/>
              </a:solidFill>
            </a:endParaRPr>
          </a:p>
          <a:p>
            <a:pPr>
              <a:spcBef>
                <a:spcPts val="600"/>
              </a:spcBef>
            </a:pPr>
            <a:r>
              <a:rPr sz="1500" b="1" dirty="0">
                <a:solidFill>
                  <a:srgbClr val="EB1000"/>
                </a:solidFill>
              </a:rPr>
              <a:t>Add the absolute paths (or patterns) you intend to ingest:</a:t>
            </a:r>
          </a:p>
          <a:p>
            <a:pPr>
              <a:spcBef>
                <a:spcPts val="600"/>
              </a:spcBef>
            </a:pPr>
            <a:r>
              <a:rPr sz="1500" b="1" dirty="0">
                <a:solidFill>
                  <a:srgbClr val="007C91"/>
                </a:solidFill>
              </a:rPr>
              <a:t>  “</a:t>
            </a:r>
            <a:r>
              <a:rPr lang="en-IN" sz="1500" b="1" dirty="0" err="1">
                <a:solidFill>
                  <a:srgbClr val="007C91"/>
                </a:solidFill>
              </a:rPr>
              <a:t>documentaccesspaths</a:t>
            </a:r>
            <a:r>
              <a:rPr sz="1500" b="1" dirty="0">
                <a:solidFill>
                  <a:srgbClr val="007C91"/>
                </a:solidFill>
              </a:rPr>
              <a:t>”: [“C:/**”, “E:/**”, “/Volumes/RAG/**”]</a:t>
            </a:r>
          </a:p>
          <a:p>
            <a:pPr>
              <a:spcBef>
                <a:spcPts val="600"/>
              </a:spcBef>
            </a:pPr>
            <a:r>
              <a:rPr sz="1500" b="1" dirty="0">
                <a:solidFill>
                  <a:srgbClr val="EB1000"/>
                </a:solidFill>
              </a:rPr>
              <a:t>Keep it tight in production — only the folders the RAG job actually needs.</a:t>
            </a:r>
          </a:p>
          <a:p>
            <a:pPr>
              <a:spcBef>
                <a:spcPts val="600"/>
              </a:spcBef>
            </a:pPr>
            <a:r>
              <a:rPr sz="1500" b="1" dirty="0">
                <a:solidFill>
                  <a:srgbClr val="007C91"/>
                </a:solidFill>
              </a:rPr>
              <a:t>Restart ColdFusion after editing the file for changes to take effect.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5B3D0B-1219-29B2-8BF3-F312ED3E6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6163"/>
            <a:ext cx="6966452" cy="338567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What is RAG?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4A4A4A"/>
                </a:solidFill>
              </a:rPr>
              <a:t>•  RAG = Retrieval-Augmented Generation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endParaRPr sz="1700">
              <a:solidFill>
                <a:srgbClr val="4A4A4A"/>
              </a:solidFill>
            </a:endParaRP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4A4A4A"/>
                </a:solidFill>
              </a:rPr>
              <a:t>•  A technique that lets LLMs answer questions using YOUR data: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6E6E6E"/>
                </a:solidFill>
              </a:rPr>
              <a:t>      ◦  1. You feed your documents into a vector store (one-time indexing)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6E6E6E"/>
                </a:solidFill>
              </a:rPr>
              <a:t>      ◦  2. When a user asks a question, the most relevant chunks are retrieved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6E6E6E"/>
                </a:solidFill>
              </a:rPr>
              <a:t>      ◦  3. Those chunks are injected into the LLM prompt as context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6E6E6E"/>
                </a:solidFill>
              </a:rPr>
              <a:t>      ◦  4. The LLM generates an answer grounded in your actual data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endParaRPr sz="1600">
              <a:solidFill>
                <a:srgbClr val="6E6E6E"/>
              </a:solidFill>
            </a:endParaRP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4A4A4A"/>
                </a:solidFill>
              </a:rPr>
              <a:t>•  Why it matters: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6E6E6E"/>
                </a:solidFill>
              </a:rPr>
              <a:t>      ◦  LLMs don’t know your private data — RAG gives them access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6E6E6E"/>
                </a:solidFill>
              </a:rPr>
              <a:t>      ◦  No retraining needed — update your docs, answers update automatically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6E6E6E"/>
                </a:solidFill>
              </a:rPr>
              <a:t>      ◦  Reduces hallucinations — answers are backed by real documents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How RAG Works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280160"/>
            <a:ext cx="457200" cy="457200"/>
          </a:xfrm>
          <a:prstGeom prst="ellipse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2588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4A4A4A"/>
                </a:solidFill>
              </a:rPr>
              <a:t>Your documents are split into chunks and converted to vectors (embeddings)</a:t>
            </a:r>
          </a:p>
        </p:txBody>
      </p:sp>
      <p:sp>
        <p:nvSpPr>
          <p:cNvPr id="7" name="Down Arrow 6"/>
          <p:cNvSpPr/>
          <p:nvPr/>
        </p:nvSpPr>
        <p:spPr>
          <a:xfrm>
            <a:off x="914400" y="1783080"/>
            <a:ext cx="91440" cy="457200"/>
          </a:xfrm>
          <a:prstGeom prst="down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31520" y="2377439"/>
            <a:ext cx="457200" cy="457200"/>
          </a:xfrm>
          <a:prstGeom prst="ellipse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423159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4A4A4A"/>
                </a:solidFill>
              </a:rPr>
              <a:t>Vectors are stored in a vector database for fast similarity search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914400" y="2880359"/>
            <a:ext cx="91440" cy="457200"/>
          </a:xfrm>
          <a:prstGeom prst="down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31520" y="3474720"/>
            <a:ext cx="457200" cy="457200"/>
          </a:xfrm>
          <a:prstGeom prst="ellipse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520439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4A4A4A"/>
                </a:solidFill>
              </a:rPr>
              <a:t>When a user asks a question, it’s also converted to a vector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914400" y="3977639"/>
            <a:ext cx="91440" cy="457200"/>
          </a:xfrm>
          <a:prstGeom prst="down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31520" y="4572000"/>
            <a:ext cx="457200" cy="457200"/>
          </a:xfrm>
          <a:prstGeom prst="ellipse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61772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4A4A4A"/>
                </a:solidFill>
              </a:rPr>
              <a:t>The closest matching chunks are found and injected into the LLM 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692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7C91"/>
                </a:solidFill>
              </a:rPr>
              <a:t>Result: The LLM answers based on your actual documents, not guesswork.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The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E6E6E"/>
                </a:solidFill>
              </a:rPr>
              <a:t>We’ll build a support bot that answers from company documents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dirty="0">
                <a:solidFill>
                  <a:srgbClr val="4A4A4A"/>
                </a:solidFill>
              </a:rPr>
              <a:t>•  Documents we’ll use: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 dirty="0">
                <a:solidFill>
                  <a:srgbClr val="6E6E6E"/>
                </a:solidFill>
              </a:rPr>
              <a:t>      ◦  Product docs — features, pricing, integrations, support options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 dirty="0">
                <a:solidFill>
                  <a:srgbClr val="6E6E6E"/>
                </a:solidFill>
              </a:rPr>
              <a:t>      ◦  Employee handbook — leave policy, expenses, remote work rules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 dirty="0">
                <a:solidFill>
                  <a:srgbClr val="6E6E6E"/>
                </a:solidFill>
              </a:rPr>
              <a:t>      ◦  FAQ — billing, password reset, data export, account management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endParaRPr sz="1500" dirty="0">
              <a:solidFill>
                <a:srgbClr val="6E6E6E"/>
              </a:solidFill>
            </a:endParaRP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dirty="0">
                <a:solidFill>
                  <a:srgbClr val="4A4A4A"/>
                </a:solidFill>
              </a:rPr>
              <a:t>•  We’ll cover what RAG in ColdFusion gives you: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 dirty="0">
                <a:solidFill>
                  <a:srgbClr val="6E6E6E"/>
                </a:solidFill>
              </a:rPr>
              <a:t>      ◦  Grounding answers in your own documents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 dirty="0">
                <a:solidFill>
                  <a:srgbClr val="6E6E6E"/>
                </a:solidFill>
              </a:rPr>
              <a:t>      ◦  Fine-tuning how retrieval picks the right chunks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 dirty="0">
                <a:solidFill>
                  <a:srgbClr val="6E6E6E"/>
                </a:solidFill>
              </a:rPr>
              <a:t>      ◦  Guardrails that inspect every request before it reaches the model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 dirty="0">
                <a:solidFill>
                  <a:srgbClr val="6E6E6E"/>
                </a:solidFill>
              </a:rPr>
              <a:t>      ◦  Streaming ingestion for large document corpora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Part 1: Simple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AAAAAA"/>
                </a:solidFill>
              </a:rPr>
              <a:t>Your first AI knowledge bot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Why RAG — Ground the Model in Your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10698480" cy="548640"/>
          </a:xfrm>
          <a:prstGeom prst="roundRect">
            <a:avLst/>
          </a:prstGeom>
          <a:solidFill>
            <a:srgbClr val="F5E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1400" b="1">
                <a:solidFill>
                  <a:srgbClr val="1A1A1A"/>
                </a:solidFill>
              </a:rPr>
              <a:t>Without RAG the LLM only knows what was in its training data. It cannot answer from your product docs, handbook or FAQ. RAG solves that in three steps — ingest, retrieve, augment.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 b="1">
                <a:solidFill>
                  <a:srgbClr val="007C91"/>
                </a:solidFill>
              </a:rPr>
              <a:t>Customer:  </a:t>
            </a:r>
            <a:r>
              <a:rPr sz="1500">
                <a:solidFill>
                  <a:srgbClr val="1A1A1A"/>
                </a:solidFill>
              </a:rPr>
              <a:t>What are the pricing plans?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EB1000"/>
                </a:solidFill>
              </a:rPr>
              <a:t>AI:  </a:t>
            </a:r>
            <a:r>
              <a:rPr sz="1500">
                <a:solidFill>
                  <a:srgbClr val="1A1A1A"/>
                </a:solidFill>
              </a:rPr>
              <a:t>I don’t have specific pricing information. Please check the company website.</a:t>
            </a:r>
            <a:r>
              <a:rPr sz="1400">
                <a:solidFill>
                  <a:srgbClr val="EB1000"/>
                </a:solidFill>
              </a:rPr>
              <a:t>  ✘  useless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007C91"/>
                </a:solidFill>
              </a:rPr>
              <a:t>Customer:  </a:t>
            </a:r>
            <a:r>
              <a:rPr sz="1500">
                <a:solidFill>
                  <a:srgbClr val="1A1A1A"/>
                </a:solidFill>
              </a:rPr>
              <a:t>What’s the leave policy?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EB1000"/>
                </a:solidFill>
              </a:rPr>
              <a:t>AI:  </a:t>
            </a:r>
            <a:r>
              <a:rPr sz="1500">
                <a:solidFill>
                  <a:srgbClr val="1A1A1A"/>
                </a:solidFill>
              </a:rPr>
              <a:t>Typically companies offer 10-15 days depending on policy.</a:t>
            </a:r>
            <a:r>
              <a:rPr sz="1400">
                <a:solidFill>
                  <a:srgbClr val="EB1000"/>
                </a:solidFill>
              </a:rPr>
              <a:t>  ✘  generic guess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007C91"/>
                </a:solidFill>
              </a:rPr>
              <a:t>Customer:  </a:t>
            </a:r>
            <a:r>
              <a:rPr sz="1500">
                <a:solidFill>
                  <a:srgbClr val="1A1A1A"/>
                </a:solidFill>
              </a:rPr>
              <a:t>How do I export my data?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EB1000"/>
                </a:solidFill>
              </a:rPr>
              <a:t>AI:  </a:t>
            </a:r>
            <a:r>
              <a:rPr sz="1500">
                <a:solidFill>
                  <a:srgbClr val="1A1A1A"/>
                </a:solidFill>
              </a:rPr>
              <a:t>Most applications let you export data from the settings menu.</a:t>
            </a:r>
            <a:r>
              <a:rPr sz="1400">
                <a:solidFill>
                  <a:srgbClr val="EB1000"/>
                </a:solidFill>
              </a:rPr>
              <a:t>  ✘  not your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7C91"/>
                </a:solidFill>
              </a:rPr>
              <a:t>Solution: Feed your documents to the LLM using simpleRAG(). 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simpleRAG() — The Fastest Path to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666041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 dirty="0">
                <a:solidFill>
                  <a:srgbClr val="6E6E6E"/>
                </a:solidFill>
              </a:rPr>
              <a:t>Create a chat model, a vector store, and pass them with your documents to </a:t>
            </a:r>
            <a:r>
              <a:rPr sz="1400" i="1" dirty="0" err="1">
                <a:solidFill>
                  <a:srgbClr val="6E6E6E"/>
                </a:solidFill>
              </a:rPr>
              <a:t>simpleRAG</a:t>
            </a:r>
            <a:r>
              <a:rPr sz="1400" i="1" dirty="0">
                <a:solidFill>
                  <a:srgbClr val="6E6E6E"/>
                </a:solidFill>
              </a:rPr>
              <a:t>(). </a:t>
            </a:r>
            <a:endParaRPr lang="en-US" sz="1400" i="1" dirty="0">
              <a:solidFill>
                <a:srgbClr val="6E6E6E"/>
              </a:solidFill>
            </a:endParaRPr>
          </a:p>
          <a:p>
            <a:r>
              <a:rPr sz="1400" i="1" dirty="0">
                <a:solidFill>
                  <a:srgbClr val="6E6E6E"/>
                </a:solidFill>
              </a:rPr>
              <a:t>It handles loading, splitting, embedding, storing, and retrieval automatically.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94A06D0-0300-ACE5-FD37-1AE79A2BD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1339"/>
            <a:ext cx="9869140" cy="463529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ask() vs chat()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6E6E6E"/>
                </a:solidFill>
              </a:rPr>
              <a:t>ask() is stateless — each call is independent. chat() maintains conversation memory so follow-up questions work.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FF5756-C37A-069A-E918-A965B1A7A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69" y="1638300"/>
            <a:ext cx="5363534" cy="44881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693738-9496-5009-64B5-27FB23D9A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3528" y="1638300"/>
            <a:ext cx="4831169" cy="44850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Chunking — Why It Matters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10698480" cy="822960"/>
          </a:xfrm>
          <a:prstGeom prst="roundRect">
            <a:avLst/>
          </a:prstGeom>
          <a:solidFill>
            <a:srgbClr val="F5E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1400" b="1" dirty="0">
                <a:solidFill>
                  <a:srgbClr val="1A1A1A"/>
                </a:solidFill>
              </a:rPr>
              <a:t>LLMs cannot read an entire 10-page document for every question. Splitting turns each document into bite-sized chunks that can be embedded, searched, and sent to the model on demand.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17951"/>
            <a:ext cx="1051560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 b="1" dirty="0">
                <a:solidFill>
                  <a:srgbClr val="007C91"/>
                </a:solidFill>
              </a:rPr>
              <a:t>Smaller chunks → sharper similarity matches, cheaper tokens, less noise per query.</a:t>
            </a:r>
          </a:p>
          <a:p>
            <a:pPr>
              <a:spcBef>
                <a:spcPts val="600"/>
              </a:spcBef>
            </a:pPr>
            <a:r>
              <a:rPr sz="1500" b="1" dirty="0">
                <a:solidFill>
                  <a:srgbClr val="EB1000"/>
                </a:solidFill>
              </a:rPr>
              <a:t>Overlap preserves context across chunk boundaries so sentences aren’t cut mid-idea.</a:t>
            </a:r>
          </a:p>
          <a:p>
            <a:pPr>
              <a:spcBef>
                <a:spcPts val="600"/>
              </a:spcBef>
            </a:pPr>
            <a:r>
              <a:rPr sz="1500" b="1" dirty="0">
                <a:solidFill>
                  <a:srgbClr val="007C91"/>
                </a:solidFill>
              </a:rPr>
              <a:t>recursive —default: paragraphs → sentences → words. Great for mixed docs.</a:t>
            </a:r>
          </a:p>
          <a:p>
            <a:pPr>
              <a:spcBef>
                <a:spcPts val="600"/>
              </a:spcBef>
            </a:pPr>
            <a:r>
              <a:rPr sz="1500" b="1" dirty="0">
                <a:solidFill>
                  <a:srgbClr val="EB1000"/>
                </a:solidFill>
              </a:rPr>
              <a:t>sentence — one sentence per chunk. Ideal for FAQs and QA-style data.</a:t>
            </a:r>
          </a:p>
          <a:p>
            <a:pPr>
              <a:spcBef>
                <a:spcPts val="600"/>
              </a:spcBef>
            </a:pPr>
            <a:r>
              <a:rPr sz="1500" b="1" dirty="0">
                <a:solidFill>
                  <a:srgbClr val="007C91"/>
                </a:solidFill>
              </a:rPr>
              <a:t>paragraph / line / word — for highly structured or very short inputs.</a:t>
            </a:r>
          </a:p>
          <a:p>
            <a:pPr>
              <a:spcBef>
                <a:spcPts val="600"/>
              </a:spcBef>
            </a:pPr>
            <a:r>
              <a:rPr sz="1500" b="1" dirty="0">
                <a:solidFill>
                  <a:srgbClr val="EB1000"/>
                </a:solidFill>
              </a:rPr>
              <a:t>Pick </a:t>
            </a:r>
            <a:r>
              <a:rPr sz="1500" b="1" dirty="0" err="1">
                <a:solidFill>
                  <a:srgbClr val="EB1000"/>
                </a:solidFill>
              </a:rPr>
              <a:t>chunkSize</a:t>
            </a:r>
            <a:r>
              <a:rPr sz="1500" b="1" dirty="0">
                <a:solidFill>
                  <a:srgbClr val="EB1000"/>
                </a:solidFill>
              </a:rPr>
              <a:t> for your data: ~500 chars for narrative, ~200 for FAQ, ~1000 for contracts or code.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Simple RAG —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6E6E6E"/>
                </a:solidFill>
              </a:rPr>
              <a:t>Tune how documents are split and how retrieval works. splitterType controls chunking strategy. maxResults and minScore control retrieval precision.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7BFD16-2AB4-1E09-47CF-EDB2BD023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861" y="1428750"/>
            <a:ext cx="9604515" cy="492739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Part 2: Providers &amp; Vector Stores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Supported Providers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4A4A4A"/>
                </a:solidFill>
              </a:rPr>
              <a:t>•  LLM Providers (chat / answer generation):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6E6E6E"/>
                </a:solidFill>
              </a:rPr>
              <a:t>      ◦  OpenAI, Anthropic, Google Gemini, Azure OpenAI, Mistral, Ollama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endParaRPr sz="1500">
              <a:solidFill>
                <a:srgbClr val="6E6E6E"/>
              </a:solidFill>
            </a:endParaRP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4A4A4A"/>
                </a:solidFill>
              </a:rPr>
              <a:t>•  Embedding Providers (text → vectors):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6E6E6E"/>
                </a:solidFill>
              </a:rPr>
              <a:t>      ◦  OpenAI, Azure OpenAI, Mistral, Gemini, Ollama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6E6E6E"/>
                </a:solidFill>
              </a:rPr>
              <a:t>      ◦  Built-in InMemory (ONNX all-minilm, zero setup)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Vector Stores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175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 dirty="0">
                <a:solidFill>
                  <a:srgbClr val="4A4A4A"/>
                </a:solidFill>
              </a:rPr>
              <a:t>•  </a:t>
            </a:r>
            <a:r>
              <a:rPr sz="1700" dirty="0" err="1">
                <a:solidFill>
                  <a:srgbClr val="4A4A4A"/>
                </a:solidFill>
              </a:rPr>
              <a:t>InMemory</a:t>
            </a:r>
            <a:r>
              <a:rPr lang="en-US" sz="1700" dirty="0">
                <a:solidFill>
                  <a:srgbClr val="4A4A4A"/>
                </a:solidFill>
              </a:rPr>
              <a:t>:</a:t>
            </a:r>
            <a:r>
              <a:rPr sz="1700" dirty="0">
                <a:solidFill>
                  <a:srgbClr val="4A4A4A"/>
                </a:solidFill>
              </a:rPr>
              <a:t> Built-in, zero setup. Data lost on server restart.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 dirty="0">
                <a:solidFill>
                  <a:srgbClr val="4A4A4A"/>
                </a:solidFill>
              </a:rPr>
              <a:t>•  Milvus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 dirty="0">
                <a:solidFill>
                  <a:srgbClr val="4A4A4A"/>
                </a:solidFill>
              </a:rPr>
              <a:t>•  </a:t>
            </a:r>
            <a:r>
              <a:rPr sz="1700" dirty="0" err="1">
                <a:solidFill>
                  <a:srgbClr val="4A4A4A"/>
                </a:solidFill>
              </a:rPr>
              <a:t>Qdrant</a:t>
            </a:r>
            <a:endParaRPr sz="1700" dirty="0">
              <a:solidFill>
                <a:srgbClr val="4A4A4A"/>
              </a:solidFill>
            </a:endParaRP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 dirty="0">
                <a:solidFill>
                  <a:srgbClr val="4A4A4A"/>
                </a:solidFill>
              </a:rPr>
              <a:t>•  Chroma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 dirty="0">
                <a:solidFill>
                  <a:srgbClr val="4A4A4A"/>
                </a:solidFill>
              </a:rPr>
              <a:t>•  Pinecone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Part 3: Document Ingestion &amp; Formats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Supported Formats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 dirty="0">
                <a:solidFill>
                  <a:srgbClr val="4A4A4A"/>
                </a:solidFill>
              </a:rPr>
              <a:t>•  Text: TXT, LOG, TSV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 dirty="0">
                <a:solidFill>
                  <a:srgbClr val="4A4A4A"/>
                </a:solidFill>
              </a:rPr>
              <a:t>•  Rich: PDF (page range), DOCX, DOC, XLS, XLSX, PPT, PPTX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 dirty="0">
                <a:solidFill>
                  <a:srgbClr val="4A4A4A"/>
                </a:solidFill>
              </a:rPr>
              <a:t>•  Markup: Markdown, HTML, XML, RTF, EPUB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 dirty="0">
                <a:solidFill>
                  <a:srgbClr val="4A4A4A"/>
                </a:solidFill>
              </a:rPr>
              <a:t>•  Data: CSV, JSON, JSONL, Properties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 dirty="0">
                <a:solidFill>
                  <a:srgbClr val="4A4A4A"/>
                </a:solidFill>
              </a:rPr>
              <a:t>•  Feeds: RSS, Atom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 dirty="0">
                <a:solidFill>
                  <a:srgbClr val="4A4A4A"/>
                </a:solidFill>
              </a:rPr>
              <a:t>•  Archives: ZIP, JAR, WAR, TAR, GZ, BZ2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 dirty="0">
                <a:solidFill>
                  <a:srgbClr val="4A4A4A"/>
                </a:solidFill>
              </a:rPr>
              <a:t>•  Remote: URL via HTTP/HTTPS with auth headers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Loaders &amp; Splitting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3100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 dirty="0">
                <a:solidFill>
                  <a:srgbClr val="4A4A4A"/>
                </a:solidFill>
              </a:rPr>
              <a:t>•  Loaders: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400" dirty="0">
                <a:solidFill>
                  <a:srgbClr val="6E6E6E"/>
                </a:solidFill>
              </a:rPr>
              <a:t>      ◦  File system — single file or recursive directory with pattern filtering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400" dirty="0">
                <a:solidFill>
                  <a:srgbClr val="6E6E6E"/>
                </a:solidFill>
              </a:rPr>
              <a:t>      ◦  URL — HTTP/HTTPS with auth headers, connection/read timeouts</a:t>
            </a:r>
            <a:endParaRPr lang="en-US" sz="1400" dirty="0">
              <a:solidFill>
                <a:srgbClr val="6E6E6E"/>
              </a:solidFill>
            </a:endParaRPr>
          </a:p>
          <a:p>
            <a:pPr>
              <a:spcBef>
                <a:spcPts val="500"/>
              </a:spcBef>
              <a:spcAft>
                <a:spcPts val="200"/>
              </a:spcAft>
            </a:pPr>
            <a:endParaRPr sz="1400" dirty="0">
              <a:solidFill>
                <a:srgbClr val="6E6E6E"/>
              </a:solidFill>
            </a:endParaRP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 dirty="0">
                <a:solidFill>
                  <a:srgbClr val="4A4A4A"/>
                </a:solidFill>
              </a:rPr>
              <a:t>•  Splitting strategies (7 types):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400" dirty="0">
                <a:solidFill>
                  <a:srgbClr val="6E6E6E"/>
                </a:solidFill>
              </a:rPr>
              <a:t>      ◦  recursive (default), sentence, paragraph, line, word, character, regex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endParaRPr sz="1400" dirty="0">
              <a:solidFill>
                <a:srgbClr val="6E6E6E"/>
              </a:solidFill>
            </a:endParaRP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 dirty="0">
                <a:solidFill>
                  <a:srgbClr val="4A4A4A"/>
                </a:solidFill>
              </a:rPr>
              <a:t>•  Parameters: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400" dirty="0">
                <a:solidFill>
                  <a:srgbClr val="6E6E6E"/>
                </a:solidFill>
              </a:rPr>
              <a:t>      ◦  </a:t>
            </a:r>
            <a:r>
              <a:rPr sz="1400" dirty="0" err="1">
                <a:solidFill>
                  <a:srgbClr val="6E6E6E"/>
                </a:solidFill>
              </a:rPr>
              <a:t>chunkSize</a:t>
            </a:r>
            <a:r>
              <a:rPr sz="1400" dirty="0">
                <a:solidFill>
                  <a:srgbClr val="6E6E6E"/>
                </a:solidFill>
              </a:rPr>
              <a:t> — max characters per chunk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400" dirty="0">
                <a:solidFill>
                  <a:srgbClr val="6E6E6E"/>
                </a:solidFill>
              </a:rPr>
              <a:t>      ◦  </a:t>
            </a:r>
            <a:r>
              <a:rPr sz="1400" dirty="0" err="1">
                <a:solidFill>
                  <a:srgbClr val="6E6E6E"/>
                </a:solidFill>
              </a:rPr>
              <a:t>chunkOverlap</a:t>
            </a:r>
            <a:r>
              <a:rPr sz="1400" dirty="0">
                <a:solidFill>
                  <a:srgbClr val="6E6E6E"/>
                </a:solidFill>
              </a:rPr>
              <a:t> — shared characters between consecutive chunks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Part 4: Advanced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AAAAAA"/>
                </a:solidFill>
              </a:rPr>
              <a:t>Full control over every pipeline stage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Advanced RAG — Take Control of Every Stage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10698480" cy="1051560"/>
          </a:xfrm>
          <a:prstGeom prst="roundRect">
            <a:avLst/>
          </a:prstGeom>
          <a:solidFill>
            <a:srgbClr val="F5E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1400" b="1" dirty="0" err="1">
                <a:solidFill>
                  <a:srgbClr val="1A1A1A"/>
                </a:solidFill>
              </a:rPr>
              <a:t>simpleRAG</a:t>
            </a:r>
            <a:r>
              <a:rPr sz="1400" b="1" dirty="0">
                <a:solidFill>
                  <a:srgbClr val="1A1A1A"/>
                </a:solidFill>
              </a:rPr>
              <a:t>() gets you started in minutes. When you need to tune chunking, routing, aggregation or prompts, agent() exposes every stage as a configurable building block.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8761" y="23774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 b="1" dirty="0">
                <a:solidFill>
                  <a:srgbClr val="007C91"/>
                </a:solidFill>
              </a:rPr>
              <a:t>Customer:  </a:t>
            </a:r>
            <a:r>
              <a:rPr sz="1500" dirty="0">
                <a:solidFill>
                  <a:srgbClr val="1A1A1A"/>
                </a:solidFill>
              </a:rPr>
              <a:t>What integrations are available?</a:t>
            </a:r>
          </a:p>
          <a:p>
            <a:pPr>
              <a:spcBef>
                <a:spcPts val="600"/>
              </a:spcBef>
            </a:pPr>
            <a:r>
              <a:rPr sz="1500" b="1" dirty="0">
                <a:solidFill>
                  <a:srgbClr val="EB1000"/>
                </a:solidFill>
              </a:rPr>
              <a:t>AI:  </a:t>
            </a:r>
            <a:r>
              <a:rPr sz="1500" dirty="0">
                <a:solidFill>
                  <a:srgbClr val="1A1A1A"/>
                </a:solidFill>
              </a:rPr>
              <a:t>The platform supports various features including task management, file sharing, and integrations with third-party tools...</a:t>
            </a:r>
            <a:r>
              <a:rPr sz="1400" dirty="0">
                <a:solidFill>
                  <a:srgbClr val="EB1000"/>
                </a:solidFill>
              </a:rPr>
              <a:t>  ✘  vague</a:t>
            </a:r>
          </a:p>
          <a:p>
            <a:pPr>
              <a:spcBef>
                <a:spcPts val="600"/>
              </a:spcBef>
            </a:pPr>
            <a:r>
              <a:rPr sz="1500" b="1" dirty="0">
                <a:solidFill>
                  <a:srgbClr val="FFFFFF"/>
                </a:solidFill>
              </a:rPr>
              <a:t>:  </a:t>
            </a:r>
          </a:p>
          <a:p>
            <a:pPr>
              <a:spcBef>
                <a:spcPts val="600"/>
              </a:spcBef>
            </a:pPr>
            <a:r>
              <a:rPr sz="1500" b="1" dirty="0">
                <a:solidFill>
                  <a:srgbClr val="6E6E6E"/>
                </a:solidFill>
              </a:rPr>
              <a:t>:  </a:t>
            </a:r>
            <a:r>
              <a:rPr sz="1500" dirty="0">
                <a:solidFill>
                  <a:srgbClr val="1A1A1A"/>
                </a:solidFill>
              </a:rPr>
              <a:t>The bot retrieved chunks about "features" instead of "integrations" specifically.</a:t>
            </a:r>
          </a:p>
          <a:p>
            <a:pPr>
              <a:spcBef>
                <a:spcPts val="600"/>
              </a:spcBef>
            </a:pPr>
            <a:r>
              <a:rPr sz="1500" b="1" dirty="0">
                <a:solidFill>
                  <a:srgbClr val="6E6E6E"/>
                </a:solidFill>
              </a:rPr>
              <a:t>:  </a:t>
            </a:r>
            <a:r>
              <a:rPr sz="1500" dirty="0">
                <a:solidFill>
                  <a:srgbClr val="1A1A1A"/>
                </a:solidFill>
              </a:rPr>
              <a:t>It mixed FAQ content with product docs.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7C91"/>
                </a:solidFill>
              </a:rPr>
              <a:t>With agent() you control every stage of the RAG pipeline. →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agent() — Full Pipeline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980242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 dirty="0">
                <a:solidFill>
                  <a:srgbClr val="6E6E6E"/>
                </a:solidFill>
              </a:rPr>
              <a:t>agent() lets you configure every stage: how documents are loaded, split, transformed, stored, and how queries are routed, retrieved, </a:t>
            </a:r>
            <a:endParaRPr lang="en-US" sz="1400" i="1" dirty="0">
              <a:solidFill>
                <a:srgbClr val="6E6E6E"/>
              </a:solidFill>
            </a:endParaRPr>
          </a:p>
          <a:p>
            <a:r>
              <a:rPr sz="1400" i="1" dirty="0">
                <a:solidFill>
                  <a:srgbClr val="6E6E6E"/>
                </a:solidFill>
              </a:rPr>
              <a:t>and assembled into prompts.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5E5833-4824-49D4-3D0F-1FD6E95BD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81480"/>
            <a:ext cx="67437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Ingestion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E6E6E"/>
                </a:solidFill>
              </a:rPr>
              <a:t>5 configurable stages: Loader → Doc Transformer → Splitter → Segment Transformer → Ingestor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4A4A4A"/>
                </a:solidFill>
              </a:rPr>
              <a:t>•  Document Loader — File, directory (recursive + pattern), URL, custom UDF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endParaRPr sz="1500">
              <a:solidFill>
                <a:srgbClr val="4A4A4A"/>
              </a:solidFill>
            </a:endParaRP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4A4A4A"/>
                </a:solidFill>
              </a:rPr>
              <a:t>•  Document Transformer — UDF on each document BEFORE splitting (add metadata, clean HTML)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endParaRPr sz="1500">
              <a:solidFill>
                <a:srgbClr val="4A4A4A"/>
              </a:solidFill>
            </a:endParaRP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4A4A4A"/>
                </a:solidFill>
              </a:rPr>
              <a:t>•  Document Splitter — All 7 types with chunkSize + chunkOverlap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endParaRPr sz="1500">
              <a:solidFill>
                <a:srgbClr val="4A4A4A"/>
              </a:solidFill>
            </a:endParaRP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4A4A4A"/>
                </a:solidFill>
              </a:rPr>
              <a:t>•  Segment Transformer — UDF on each chunk AFTER splitting (tag, enrich, filter)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endParaRPr sz="1500">
              <a:solidFill>
                <a:srgbClr val="4A4A4A"/>
              </a:solidFill>
            </a:endParaRP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4A4A4A"/>
                </a:solidFill>
              </a:rPr>
              <a:t>•  Vector Store Ingestor — Embeds and stores chunks. batchSize (1-1000), continueOnError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Transformers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6E6E6E"/>
                </a:solidFill>
              </a:rPr>
              <a:t>Custom UDFs that enrich your data during ingestion. The document transformer runs before splitting; the segment transformer runs after.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8E0F5A-A036-6197-DD96-7BC4CC54C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62" y="1555750"/>
            <a:ext cx="5020056" cy="45707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08C932C-6E34-C924-1C8B-2379EDA89C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45260"/>
            <a:ext cx="4292600" cy="4927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Batching &amp; Async Ingestion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6E6E6E"/>
                </a:solidFill>
              </a:rPr>
              <a:t>batchSize controls memory usage during ingestion. ingestAsync() makes ingestion non-blocking with Java Futures for background processing.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16F40C-900B-731E-8BD9-206289E06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138" y="1463039"/>
            <a:ext cx="4984159" cy="47847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1A50C0D-CCDB-3B8F-DC0F-B56FDE071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6895" y="1473672"/>
            <a:ext cx="5251597" cy="47602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Retrieval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E6E6E"/>
                </a:solidFill>
              </a:rPr>
              <a:t>5 components: Query Transformer → Query Router → Content Retriever → Aggregator → Injector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4A4A4A"/>
                </a:solidFill>
              </a:rPr>
              <a:t>•  Query Transformer — Rewrites vague follow-ups into standalone queries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400">
                <a:solidFill>
                  <a:srgbClr val="6E6E6E"/>
                </a:solidFill>
              </a:rPr>
              <a:t>      ◦  Built-in: "compressing" type for multi-turn conversations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endParaRPr sz="1400">
              <a:solidFill>
                <a:srgbClr val="6E6E6E"/>
              </a:solidFill>
            </a:endParaRP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4A4A4A"/>
                </a:solidFill>
              </a:rPr>
              <a:t>•  Query Router — Routes to the right retriever(s)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400">
                <a:solidFill>
                  <a:srgbClr val="6E6E6E"/>
                </a:solidFill>
              </a:rPr>
              <a:t>      ◦  Default: sends to ALL   |   Intelligent: LLM picks best based on descriptions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endParaRPr sz="1400">
              <a:solidFill>
                <a:srgbClr val="6E6E6E"/>
              </a:solidFill>
            </a:endParaRP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4A4A4A"/>
                </a:solidFill>
              </a:rPr>
              <a:t>•  Content Retriever — Fetches relevant chunks. maxResults (top-k), minScore (threshold)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endParaRPr sz="1500">
              <a:solidFill>
                <a:srgbClr val="4A4A4A"/>
              </a:solidFill>
            </a:endParaRP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4A4A4A"/>
                </a:solidFill>
              </a:rPr>
              <a:t>•  Content Aggregator — Merges chunks from multiple retrievers with configurable separator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endParaRPr sz="1500">
              <a:solidFill>
                <a:srgbClr val="4A4A4A"/>
              </a:solidFill>
            </a:endParaRP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4A4A4A"/>
                </a:solidFill>
              </a:rPr>
              <a:t>•  Content Injector — Assembles the final prompt. {{contents}} + {{userMessage}} placeholders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400">
                <a:solidFill>
                  <a:srgbClr val="6E6E6E"/>
                </a:solidFill>
              </a:rPr>
              <a:t>      ◦  metadataKeys adds file info for citations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Content Retriever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32282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 dirty="0" err="1">
                <a:solidFill>
                  <a:srgbClr val="6E6E6E"/>
                </a:solidFill>
              </a:rPr>
              <a:t>maxResults</a:t>
            </a:r>
            <a:r>
              <a:rPr sz="1400" i="1" dirty="0">
                <a:solidFill>
                  <a:srgbClr val="6E6E6E"/>
                </a:solidFill>
              </a:rPr>
              <a:t> controls how many chunks are returned. </a:t>
            </a:r>
            <a:r>
              <a:rPr sz="1400" i="1" dirty="0" err="1">
                <a:solidFill>
                  <a:srgbClr val="6E6E6E"/>
                </a:solidFill>
              </a:rPr>
              <a:t>minScore</a:t>
            </a:r>
            <a:r>
              <a:rPr sz="1400" i="1" dirty="0">
                <a:solidFill>
                  <a:srgbClr val="6E6E6E"/>
                </a:solidFill>
              </a:rPr>
              <a:t> filters out low-similarity matches. description helps intelligent routing decide </a:t>
            </a:r>
            <a:endParaRPr lang="en-US" sz="1400" i="1" dirty="0">
              <a:solidFill>
                <a:srgbClr val="6E6E6E"/>
              </a:solidFill>
            </a:endParaRPr>
          </a:p>
          <a:p>
            <a:r>
              <a:rPr sz="1400" i="1" dirty="0">
                <a:solidFill>
                  <a:srgbClr val="6E6E6E"/>
                </a:solidFill>
              </a:rPr>
              <a:t>which retriever to use.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9731F6-EAFF-87BA-6D92-4F396020A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567702"/>
            <a:ext cx="8922843" cy="466733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Query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814428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 dirty="0">
                <a:solidFill>
                  <a:srgbClr val="6E6E6E"/>
                </a:solidFill>
              </a:rPr>
              <a:t>Default router sends every query to ALL retrievers. </a:t>
            </a:r>
            <a:endParaRPr lang="en-US" sz="1400" i="1" dirty="0">
              <a:solidFill>
                <a:srgbClr val="6E6E6E"/>
              </a:solidFill>
            </a:endParaRPr>
          </a:p>
          <a:p>
            <a:r>
              <a:rPr sz="1400" i="1" dirty="0">
                <a:solidFill>
                  <a:srgbClr val="6E6E6E"/>
                </a:solidFill>
              </a:rPr>
              <a:t>Intelligent router uses the LLM to read descriptions and pick the best retriever, saving cost and reducing noise.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591A194-4B6E-F5BE-A923-66D2F3A46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15410"/>
            <a:ext cx="4737100" cy="47117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777A34E-5BE5-C54F-B24D-DA747A619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1639746"/>
            <a:ext cx="4292009" cy="471279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Query Transformer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770961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 dirty="0">
                <a:solidFill>
                  <a:srgbClr val="6E6E6E"/>
                </a:solidFill>
              </a:rPr>
              <a:t>The compressing transformer rewrites vague follow-ups like "tell me more" into full standalone queries, </a:t>
            </a:r>
            <a:endParaRPr lang="en-US" sz="1400" i="1" dirty="0">
              <a:solidFill>
                <a:srgbClr val="6E6E6E"/>
              </a:solidFill>
            </a:endParaRPr>
          </a:p>
          <a:p>
            <a:r>
              <a:rPr sz="1400" i="1" dirty="0">
                <a:solidFill>
                  <a:srgbClr val="6E6E6E"/>
                </a:solidFill>
              </a:rPr>
              <a:t>so retrieval stays accurate across multi-turn conversations.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492362-E8B8-2398-950F-AD6A2B957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316" y="1911721"/>
            <a:ext cx="8003954" cy="441007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Content Aggregator &amp; Injector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898476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 dirty="0">
                <a:solidFill>
                  <a:srgbClr val="6E6E6E"/>
                </a:solidFill>
              </a:rPr>
              <a:t>The aggregator merges chunks from multiple retrievers. The injector controls the exact prompt template sent to the LLM, </a:t>
            </a:r>
            <a:endParaRPr lang="en-US" sz="1400" i="1" dirty="0">
              <a:solidFill>
                <a:srgbClr val="6E6E6E"/>
              </a:solidFill>
            </a:endParaRPr>
          </a:p>
          <a:p>
            <a:r>
              <a:rPr sz="1400" i="1" dirty="0">
                <a:solidFill>
                  <a:srgbClr val="6E6E6E"/>
                </a:solidFill>
              </a:rPr>
              <a:t>with placeholders for content and the user’s question.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77FF1F-3C32-D705-8A15-476AA1EEB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39" y="1689099"/>
            <a:ext cx="5604841" cy="40843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63E2C1F-1EBB-A9CB-E1DD-37FB044F2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210" y="1689099"/>
            <a:ext cx="4823790" cy="410091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Part 5: Guardrails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Why Guardrails — Sensitive Data in Messages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10698480" cy="822960"/>
          </a:xfrm>
          <a:prstGeom prst="roundRect">
            <a:avLst/>
          </a:prstGeom>
          <a:solidFill>
            <a:srgbClr val="F5E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1400" b="1" dirty="0">
                <a:solidFill>
                  <a:srgbClr val="1A1A1A"/>
                </a:solidFill>
              </a:rPr>
              <a:t>Chat inputs sometimes contain SSNs, credit card numbers or passwords. Guardrails inspect every message so that data never reaches the LLM.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 b="1" dirty="0">
                <a:solidFill>
                  <a:srgbClr val="007C91"/>
                </a:solidFill>
              </a:rPr>
              <a:t>Customer:  </a:t>
            </a:r>
            <a:r>
              <a:rPr sz="1500" dirty="0">
                <a:solidFill>
                  <a:srgbClr val="1A1A1A"/>
                </a:solidFill>
              </a:rPr>
              <a:t>My SSN is 123-45-6789, can you look up my account?</a:t>
            </a:r>
          </a:p>
          <a:p>
            <a:pPr>
              <a:spcBef>
                <a:spcPts val="600"/>
              </a:spcBef>
            </a:pPr>
            <a:r>
              <a:rPr sz="1500" b="1" dirty="0">
                <a:solidFill>
                  <a:srgbClr val="EB1000"/>
                </a:solidFill>
              </a:rPr>
              <a:t>AI:  </a:t>
            </a:r>
            <a:r>
              <a:rPr sz="1500" dirty="0">
                <a:solidFill>
                  <a:srgbClr val="1A1A1A"/>
                </a:solidFill>
              </a:rPr>
              <a:t>I found your account! Your SSN 123-45-6789 is associated with...</a:t>
            </a:r>
            <a:r>
              <a:rPr sz="1400" dirty="0">
                <a:solidFill>
                  <a:srgbClr val="EB1000"/>
                </a:solidFill>
              </a:rPr>
              <a:t>  ✘  PII in response!</a:t>
            </a:r>
          </a:p>
          <a:p>
            <a:pPr>
              <a:spcBef>
                <a:spcPts val="600"/>
              </a:spcBef>
            </a:pPr>
            <a:r>
              <a:rPr sz="1500" b="1" dirty="0">
                <a:solidFill>
                  <a:srgbClr val="FFFFFF"/>
                </a:solidFill>
              </a:rPr>
              <a:t>:  </a:t>
            </a:r>
          </a:p>
          <a:p>
            <a:pPr>
              <a:spcBef>
                <a:spcPts val="600"/>
              </a:spcBef>
            </a:pPr>
            <a:r>
              <a:rPr sz="1500" b="1" dirty="0">
                <a:solidFill>
                  <a:srgbClr val="007C91"/>
                </a:solidFill>
              </a:rPr>
              <a:t>Customer:  </a:t>
            </a:r>
            <a:r>
              <a:rPr sz="1500" dirty="0">
                <a:solidFill>
                  <a:srgbClr val="1A1A1A"/>
                </a:solidFill>
              </a:rPr>
              <a:t>My credit card is 4111-1111-1111-1111</a:t>
            </a:r>
          </a:p>
          <a:p>
            <a:pPr>
              <a:spcBef>
                <a:spcPts val="600"/>
              </a:spcBef>
            </a:pPr>
            <a:r>
              <a:rPr sz="1500" b="1" dirty="0">
                <a:solidFill>
                  <a:srgbClr val="EB1000"/>
                </a:solidFill>
              </a:rPr>
              <a:t>AI:  </a:t>
            </a:r>
            <a:r>
              <a:rPr sz="1500" dirty="0">
                <a:solidFill>
                  <a:srgbClr val="1A1A1A"/>
                </a:solidFill>
              </a:rPr>
              <a:t>I’ve noted your credit card number 4111-1111-1111-1111...</a:t>
            </a:r>
            <a:r>
              <a:rPr sz="1400" dirty="0">
                <a:solidFill>
                  <a:srgbClr val="EB1000"/>
                </a:solidFill>
              </a:rPr>
              <a:t>  ✘  stored PII!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7C91"/>
                </a:solidFill>
              </a:rPr>
              <a:t>Guardrails inspect every message before it reaches the model. →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Guardrails — Input &amp; Output Filters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6E6E6E"/>
                </a:solidFill>
              </a:rPr>
              <a:t>Each guardrail is a CFC with validate(). It returns success, fatal (block), or reprompt (retry with new instruction). Multiple guardrails execute in order.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B011D3-71D8-0659-718D-73CEF5157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32315"/>
            <a:ext cx="4699826" cy="51885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99FCDFB-55B7-9112-8C1F-03E215E83B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1" y="1498642"/>
            <a:ext cx="4192771" cy="522219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Part 6: Document Processing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AAAAAA"/>
                </a:solidFill>
              </a:rPr>
              <a:t>Standalone processing without an LLM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documentService() — The Ingestion Toolkit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79"/>
            <a:ext cx="10698480" cy="986701"/>
          </a:xfrm>
          <a:prstGeom prst="roundRect">
            <a:avLst/>
          </a:prstGeom>
          <a:solidFill>
            <a:srgbClr val="F5E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1400" b="1">
                <a:solidFill>
                  <a:srgbClr val="1A1A1A"/>
                </a:solidFill>
              </a:rPr>
              <a:t>When you need to run ingestion as a scheduled job, share a vector store across services, or inspect intermediate data, documentService() gives you each stage as a standalone, chainable call.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093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 b="1" dirty="0">
                <a:solidFill>
                  <a:srgbClr val="007C91"/>
                </a:solidFill>
              </a:rPr>
              <a:t>load() • </a:t>
            </a:r>
            <a:r>
              <a:rPr sz="1500" b="1" dirty="0" err="1">
                <a:solidFill>
                  <a:srgbClr val="007C91"/>
                </a:solidFill>
              </a:rPr>
              <a:t>lazyLoad</a:t>
            </a:r>
            <a:r>
              <a:rPr sz="1500" b="1" dirty="0">
                <a:solidFill>
                  <a:srgbClr val="007C91"/>
                </a:solidFill>
              </a:rPr>
              <a:t>() — read files or folders into Document objects.</a:t>
            </a:r>
          </a:p>
          <a:p>
            <a:pPr>
              <a:spcBef>
                <a:spcPts val="600"/>
              </a:spcBef>
            </a:pPr>
            <a:r>
              <a:rPr sz="1500" b="1" dirty="0">
                <a:solidFill>
                  <a:srgbClr val="EB1000"/>
                </a:solidFill>
              </a:rPr>
              <a:t>transform() — run your own CFML function on each Document before splitting.</a:t>
            </a:r>
          </a:p>
          <a:p>
            <a:pPr>
              <a:spcBef>
                <a:spcPts val="600"/>
              </a:spcBef>
            </a:pPr>
            <a:r>
              <a:rPr sz="1500" b="1" dirty="0">
                <a:solidFill>
                  <a:srgbClr val="007C91"/>
                </a:solidFill>
              </a:rPr>
              <a:t>split() — chunk documents with a chosen splitter type and chunk size.</a:t>
            </a:r>
          </a:p>
          <a:p>
            <a:pPr>
              <a:spcBef>
                <a:spcPts val="600"/>
              </a:spcBef>
            </a:pPr>
            <a:r>
              <a:rPr sz="1500" b="1" dirty="0" err="1">
                <a:solidFill>
                  <a:srgbClr val="EB1000"/>
                </a:solidFill>
              </a:rPr>
              <a:t>transformSegments</a:t>
            </a:r>
            <a:r>
              <a:rPr sz="1500" b="1" dirty="0">
                <a:solidFill>
                  <a:srgbClr val="EB1000"/>
                </a:solidFill>
              </a:rPr>
              <a:t>() — enrich each chunk with per-segment metadata.</a:t>
            </a:r>
          </a:p>
          <a:p>
            <a:pPr>
              <a:spcBef>
                <a:spcPts val="600"/>
              </a:spcBef>
            </a:pPr>
            <a:r>
              <a:rPr sz="1500" b="1" dirty="0">
                <a:solidFill>
                  <a:srgbClr val="007C91"/>
                </a:solidFill>
              </a:rPr>
              <a:t>ingest() • </a:t>
            </a:r>
            <a:r>
              <a:rPr sz="1500" b="1" dirty="0" err="1">
                <a:solidFill>
                  <a:srgbClr val="007C91"/>
                </a:solidFill>
              </a:rPr>
              <a:t>ingestAsync</a:t>
            </a:r>
            <a:r>
              <a:rPr sz="1500" b="1" dirty="0">
                <a:solidFill>
                  <a:srgbClr val="007C91"/>
                </a:solidFill>
              </a:rPr>
              <a:t>() — embed and push into the vector store, sync or non-blocking.</a:t>
            </a:r>
          </a:p>
          <a:p>
            <a:pPr>
              <a:spcBef>
                <a:spcPts val="600"/>
              </a:spcBef>
            </a:pPr>
            <a:r>
              <a:rPr sz="1500" b="1" dirty="0">
                <a:solidFill>
                  <a:srgbClr val="EB1000"/>
                </a:solidFill>
              </a:rPr>
              <a:t>Composable with agent() — ingest via </a:t>
            </a:r>
            <a:r>
              <a:rPr sz="1500" b="1" dirty="0" err="1">
                <a:solidFill>
                  <a:srgbClr val="EB1000"/>
                </a:solidFill>
              </a:rPr>
              <a:t>documentService</a:t>
            </a:r>
            <a:r>
              <a:rPr sz="1500" b="1" dirty="0">
                <a:solidFill>
                  <a:srgbClr val="EB1000"/>
                </a:solidFill>
              </a:rPr>
              <a:t>, query via agent on the same store.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documentService()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681814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 dirty="0">
                <a:solidFill>
                  <a:srgbClr val="6E6E6E"/>
                </a:solidFill>
              </a:rPr>
              <a:t>Each step is independent: load, split, transform, ingest. Every method has an async variant. </a:t>
            </a:r>
            <a:endParaRPr lang="en-US" sz="1400" i="1" dirty="0">
              <a:solidFill>
                <a:srgbClr val="6E6E6E"/>
              </a:solidFill>
            </a:endParaRPr>
          </a:p>
          <a:p>
            <a:r>
              <a:rPr sz="1400" i="1" dirty="0">
                <a:solidFill>
                  <a:srgbClr val="6E6E6E"/>
                </a:solidFill>
              </a:rPr>
              <a:t>No LLM involved — pure document processing for ETL jobs and shared infrastructure.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378A05-DD94-4B42-F872-282143666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23739"/>
            <a:ext cx="9241820" cy="4602549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488544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>
                <a:solidFill>
                  <a:srgbClr val="1A1A1A"/>
                </a:solidFill>
              </a:rPr>
              <a:t>Lazy Load</a:t>
            </a:r>
            <a:r>
              <a:rPr lang="en-US" sz="3200" b="1" dirty="0">
                <a:solidFill>
                  <a:srgbClr val="1A1A1A"/>
                </a:solidFill>
              </a:rPr>
              <a:t> </a:t>
            </a:r>
            <a:r>
              <a:rPr sz="3200" b="1" dirty="0">
                <a:solidFill>
                  <a:srgbClr val="1A1A1A"/>
                </a:solidFill>
              </a:rPr>
              <a:t>&amp; Async</a:t>
            </a:r>
            <a:r>
              <a:rPr lang="en-US" sz="3200" b="1" dirty="0">
                <a:solidFill>
                  <a:srgbClr val="1A1A1A"/>
                </a:solidFill>
              </a:rPr>
              <a:t> methods</a:t>
            </a:r>
            <a:endParaRPr sz="3200" b="1" dirty="0">
              <a:solidFill>
                <a:srgbClr val="1A1A1A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808779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 dirty="0" err="1">
                <a:solidFill>
                  <a:srgbClr val="6E6E6E"/>
                </a:solidFill>
              </a:rPr>
              <a:t>lazyLoad</a:t>
            </a:r>
            <a:r>
              <a:rPr sz="1400" i="1" dirty="0">
                <a:solidFill>
                  <a:srgbClr val="6E6E6E"/>
                </a:solidFill>
              </a:rPr>
              <a:t>() streams one document at a time for large datasets. parallel: true enables multi-threaded loading. </a:t>
            </a:r>
            <a:endParaRPr lang="en-US" sz="1400" i="1" dirty="0">
              <a:solidFill>
                <a:srgbClr val="6E6E6E"/>
              </a:solidFill>
            </a:endParaRPr>
          </a:p>
          <a:p>
            <a:r>
              <a:rPr sz="1400" i="1" dirty="0">
                <a:solidFill>
                  <a:srgbClr val="6E6E6E"/>
                </a:solidFill>
              </a:rPr>
              <a:t>Every method (load, transform, ingest) has an async variant returning a Future.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6D8EE11-FAA2-DEF1-48F6-8FD439DA5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665472"/>
            <a:ext cx="5333085" cy="44610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977100E-9715-57E8-92A4-3B1462A3A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250" y="1468120"/>
            <a:ext cx="4889500" cy="49784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documentService().lazyLoad() — Stream Big Corpora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52675"/>
            <a:ext cx="978165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 dirty="0">
                <a:solidFill>
                  <a:srgbClr val="6E6E6E"/>
                </a:solidFill>
              </a:rPr>
              <a:t>load() reads every file into memory before returning. For large archives that can exhaust JVM heap. </a:t>
            </a:r>
            <a:r>
              <a:rPr sz="1400" i="1" dirty="0" err="1">
                <a:solidFill>
                  <a:srgbClr val="6E6E6E"/>
                </a:solidFill>
              </a:rPr>
              <a:t>lazyLoad</a:t>
            </a:r>
            <a:r>
              <a:rPr sz="1400" i="1" dirty="0">
                <a:solidFill>
                  <a:srgbClr val="6E6E6E"/>
                </a:solidFill>
              </a:rPr>
              <a:t>() returns an iterator — </a:t>
            </a:r>
            <a:endParaRPr lang="en-US" sz="1400" i="1" dirty="0">
              <a:solidFill>
                <a:srgbClr val="6E6E6E"/>
              </a:solidFill>
            </a:endParaRPr>
          </a:p>
          <a:p>
            <a:r>
              <a:rPr sz="1400" i="1" dirty="0">
                <a:solidFill>
                  <a:srgbClr val="6E6E6E"/>
                </a:solidFill>
              </a:rPr>
              <a:t>only one document is held at a time, processing can start before the whole set is loaded.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759145-4214-0378-E976-3D32BF26C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13153"/>
            <a:ext cx="6785699" cy="507083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Part 7: Wrap-up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Admin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4A4A4A"/>
                </a:solidFill>
              </a:rPr>
              <a:t>•  RAG Ingestion UI in ColdFusion Administrator: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6E6E6E"/>
                </a:solidFill>
              </a:rPr>
              <a:t>      ◦  /CFIDE/administrator/ai/rag/ingestion.cfm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endParaRPr sz="1500">
              <a:solidFill>
                <a:srgbClr val="6E6E6E"/>
              </a:solidFill>
            </a:endParaRP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6E6E6E"/>
                </a:solidFill>
              </a:rPr>
              <a:t>      ◦  Single file, directory, and URL ingestion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6E6E6E"/>
                </a:solidFill>
              </a:rPr>
              <a:t>      ◦  Async ingestion with status monitoring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6E6E6E"/>
                </a:solidFill>
              </a:rPr>
              <a:t>      ◦  Authenticated access only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endParaRPr sz="1500">
              <a:solidFill>
                <a:srgbClr val="6E6E6E"/>
              </a:solidFill>
            </a:endParaRP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4A4A4A"/>
                </a:solidFill>
              </a:rPr>
              <a:t>•  Code Analyzer: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6E6E6E"/>
                </a:solidFill>
              </a:rPr>
              <a:t>      ◦  Detects UDF name conflicts with RAG built-in functions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534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91840"/>
            <a:ext cx="8534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AAAAAA"/>
                </a:solidFill>
              </a:rPr>
              <a:t>Prashant Dubey  |  ColdFusion Engineering  |  Adobe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2533</Words>
  <Application>Microsoft Macintosh PowerPoint</Application>
  <PresentationFormat>Widescreen</PresentationFormat>
  <Paragraphs>252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Prashant Dubey</cp:lastModifiedBy>
  <cp:revision>2</cp:revision>
  <dcterms:created xsi:type="dcterms:W3CDTF">2013-01-27T09:14:16Z</dcterms:created>
  <dcterms:modified xsi:type="dcterms:W3CDTF">2026-04-17T14:46:51Z</dcterms:modified>
  <cp:category/>
</cp:coreProperties>
</file>